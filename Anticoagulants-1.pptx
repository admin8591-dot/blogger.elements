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/ Hematology — Blood Anticoagulants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• Mechanism of Coagulation • Properties • Classification • Composition &amp; Ratio • Uses • Blood Bank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80560" y="4434840"/>
            <a:ext cx="322783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MLT Pathshala — YouTube Channel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are chemical substances added to blood, in vitro, to prevent it from clotting (coagulating).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either by removing/binding calcium ions (Factor IV) from blood, or by directly inhibiting thrombin and other clotting factors.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collected without an anticoagulant clots within a few minutes — the clotted (serum) sample cannot be used for most hematology tests.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Anticoagulated blood is essential for hematological investigations, coagulation studies, and for the safe storage of blood in blood banks.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anticoagulants act by different mechanisms and are chosen depending on the test to be performed — no single anticoagulant suits every test.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General Uses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blood in a fluid (liquid) state so that it can be examined, processed, or stored.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hematological tests — complete blood count (CBC), hemoglobin, PCV, ESR, blood film examination.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coagulation studies — Prothrombin Time (PT), Activated Partial Thromboplastin Time (APTT).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plasma (instead of serum) for biochemical and immunological assays that require plasma.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donor blood in blood banks for transfusion, by combining an anticoagulant with a preservative solution.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therapeutically (in vivo) to prevent and treat thromboembolic disorders — e.g., heparin, warfarin.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Mechanism — Basis of Anticoagulant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coagulation proceeds through the Intrinsic, Extrinsic, and Common pathways, ending in the conversion of fibrinogen to fibrin.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ion (Factor IV) is required at several steps of the cascade — activation of Factors IX, X, and prothrombin to thrombin.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Thrombin converts soluble fibrinogen into insoluble fibrin strands, which trap cells and form the clot.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interrupt this cascade at one of two points: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chelating/precipitating calcium — removing it so the cascade cannot proceed (EDTA, citrate, oxalates).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directly inhibiting thrombin/clotting factors — without removing calcium (heparin, warfarin).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an Ideal Anticoagulant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prevent coagulation completely at the correct concentration.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alter the size, shape, or morphology of blood cells.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freely soluble in blood and act rapidly.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interfere with the test to be performed on the sample.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non-toxic, cheap, easily available, and stable on storage.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used in the correct, standardized ratio to blood — excess or deficient anticoagulant both distort results.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Anticoagulants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Calcium Chelating / Precipitating Agents — act by removing or binding calcium (Factor IV):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 (Ethylenediaminetetraacetic acid) — di/tripotassium or disodium salt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Citrate (trisodium citrate)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Oxalates — Ammonium oxalate, Potassium oxalate, Double (Wintrobe's) oxalate mixture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Non-Calcium Chelating Agents — act by directly inhibiting thrombin / clotting factors: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— potentiates antithrombin III, inactivates thrombin and Factor Xa</a:t>
            </a:r>
            <a:endParaRPr lang="en-US" sz="1450" dirty="0"/>
          </a:p>
          <a:p>
            <a:pPr lvl="1" marL="6858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— in vivo, Vitamin K antagonist; inhibits synthesis of Factors II, VII, IX, X in the liver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 (Ethylenediaminetetraacetic Acid)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Disodium, dipotassium, or tripotassium (K2/K3) salt of EDTA; K2EDTA is the ICSH-recommended form.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Chelates calcium ions, forming a stable, soluble calcium-EDTA complex — calcium becomes unavailable for coagulation.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Ratio/Concentration: 1.2–2.0 mg dry EDTA per mL of blood (lavender/purple-top vacutainer).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Complete Blood Count (CBC), hemoglobin, PCV, cell counts, and peripheral blood film — the best anticoagulant for preserving cell morphology.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Excellent preservation of RBC/WBC morphology; no hemolysis; ideal for hematology automation.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Unsuitable for coagulation studies or calcium estimation; excess EDTA causes cell shrinkage and can cause EDTA-induced pseudothrombocytopenia (platelet clumping).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Citrate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3.2% or 3.8% aqueous solution of trisodium citrate.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Chelates calcium reversibly, forming soluble calcium citrate — coagulation can be restored by adding back calcium.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1 part anticoagulant : 9 parts blood (1:9) for coagulation tests; 1:4 for the Westergren ESR method.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Coagulation tests — Prothrombin Time (PT), APTT; ESR (Westergren method); also used as the base anticoagulant in blood bank preservative solutions.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Reversible chelation preserves coagulation factors, allowing accurate PT/APTT testing.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Dilutes the sample (must correct for high/low hematocrit); not suitable for cell counts.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Oxalates (Ammonium, Potassium &amp; Double Oxalate)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Precipitates calcium as insoluble calcium oxalate, removing it from the coagulation cascade.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Ammonium oxalate — causes RBCs to swell; Potassium oxalate — causes RBCs to shrink.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oxalate (Wintrobe's mixture): Ammonium oxalate + Potassium oxalate combined in a 3:2 ratio — the opposing effects on cell size cancel out.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Ratio/Concentration: about 2 mg ammonium oxalate + 1.2 mg potassium oxalate per mL of blood (~6 mg mixture/2 mL blood).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PCV by the Wintrobe method; largely historical, now replaced by EDTA in most laboratories.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Distorts cell morphology on blood film, unsuitable for electrolyte/potassium estimation, and not used for coagulation tests.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A naturally occurring, sulfated mucopolysaccharide, extracted from animal (bovine/porcine) lung and intestinal mucosa.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Potentiates antithrombin III, which inactivates thrombin and Factor Xa directly — does NOT chelate calcium.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Ratio/Concentration: 0.1–0.2 mg (about 15–20 IU) per mL of blood (green-top vacutainer, lithium or sodium heparin).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Osmotic fragility test, blood gas analysis, ammonia estimation, chromosome studies/karyotyping, and tests requiring calcium to remain available.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Physiological anticoagulant, rapid action, doesn't remove calcium — useful when calcium-dependent assays are needed.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Expensive; causes leukocyte clumping; gives a bluish background on Romanowsky-stained films (unsuitable for blood film/differential count).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 vivo (therapeutic) anticoagulant — not used to preserve laboratory blood samples in vitro.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A Vitamin K antagonist — inhibits the hepatic synthesis of the Vitamin K-dependent clotting factors II, VII, IX, and X.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Given orally to prevent and treat thromboembolic disorders — deep vein thrombosis, pulmonary embolism, atrial fibrillation, prosthetic heart valves.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Therapeutic effect is monitored using Prothrombin Time (PT), expressed as the International Normalized Ratio (INR).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Included here as an anticoagulant classification, but relevant to pharmacology/clinical medicine rather than sample collection.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— Quick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2862072"/>
                <a:gridCol w="3008376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Anticoagulant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Ratio / Conc.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Chief Use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EDTA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Chelates calcium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1.2–2.0 mg/mL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CBC, blood film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Sodium Citrate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Chelates calcium (reversible)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1:9 (PT/APTT); 1:4 (ESR)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Coagulation tests, ESR, blood bank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Double Oxalate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Precipitates calcium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~6 mg/2 mL (3:2 ratio)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PCV (Wintrobe method)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Heparin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Inhibits thrombin/Factor Xa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0.1–0.2 mg (15–20 IU)/mL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Osmotic fragility, blood gas, karyotyping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Warfarin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Vitamin K antagonist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Oral, dose-titrated (in vivo)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Therapeutic — thromboprophylaxis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in Blood Bank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916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1091672" cy="5349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anticoagulants double as preservative solutions — they must keep donor blood both liquid AND viable for transfusion.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(Acid Citrate Dextrose): Citrate chelates calcium; dextrose provides energy for RBC metabolism during storage. Shelf life ~21 days.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(Citrate Phosphate Dextrose): Adds phosphate as a buffer to maintain pH and improve RBC survival. Shelf life ~21 days.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CPDA-1 (Citrate Phosphate Dextrose Adenine): Adenine allows RBCs to resynthesize ATP, extending shelf life to ~35 days.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SAGM (Saline-Adenine-Glucose-Mannitol): An additive solution used after plasma/citrate removal to extend red cell storage further (~42 days).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preservative determines shelf life, RBC viability, and suitability of the unit for specific transfusion needs.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2026-08-13T13:20:42Z</dcterms:created>
  <dcterms:modified xsi:type="dcterms:W3CDTF">2026-08-13T13:20:42Z</dcterms:modified>
</cp:coreProperties>
</file>